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Fira Mono" panose="020B0509050000020004" pitchFamily="49" charset="0"/>
      <p:regular r:id="rId11"/>
    </p:embeddedFont>
    <p:embeddedFont>
      <p:font typeface="Fira Mono Medium" panose="020B0609050000020004" pitchFamily="49" charset="0"/>
      <p:regular r:id="rId12"/>
    </p:embeddedFont>
    <p:embeddedFont>
      <p:font typeface="Schibsted Grotesk" panose="020B0604020202020204" charset="0"/>
      <p:regular r:id="rId13"/>
    </p:embeddedFont>
    <p:embeddedFont>
      <p:font typeface="Schibsted Grotesk Bold" panose="020B0604020202020204" charset="0"/>
      <p:regular r:id="rId14"/>
    </p:embeddedFont>
    <p:embeddedFont>
      <p:font typeface="Schibsted Grotesk ExtraBold" panose="020B0604020202020204" charset="0"/>
      <p:regular r:id="rId15"/>
    </p:embeddedFont>
    <p:embeddedFont>
      <p:font typeface="Schibsted Grotesk Medium" panose="020B0604020202020204" charset="0"/>
      <p:regular r:id="rId16"/>
    </p:embeddedFont>
    <p:embeddedFont>
      <p:font typeface="Schibsted Grotesk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73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Attendance Risk Analyzer, Problem 49. It turns raw attendance records into a ranked intervention list using core algorithmic paradigms.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scale makes manual attendance monitoring fail: missed warning signs, tedious register reviews, and late interventions. Walk through the 75% threshold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pipeline stages from left to right. Emphasize how each algorithmic stage prepares clean data for the next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three algorithms using the table. Emphasize why each was picked: Sorting organizes the cohort, Binary Search enables instant lookup, and Greedy maximizes intervention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technology choices. Explain why Python, Flask, and SQLite make this practical for colleges: no complex server infrastructure, fast setup, and clean separation of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raw unorganized roster on the left with the sorted, greedy-selected queue on the right. Imran and Arjun jump to the front of the queue ahead of Ayesha, while Priya and Rahul remain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takeaways: real-world utility of core CS algorithms, rapid lightweight implementation, and future directions including ML forecasts and automated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377" y="1156649"/>
            <a:ext cx="619744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14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Attendance Risk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14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Analyzer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07987" y="4252317"/>
            <a:ext cx="1549361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4695230"/>
            <a:ext cx="619744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Greedy Selection, Sorting &amp; Fast Binary 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87" y="5168305"/>
            <a:ext cx="6603835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Python · Flask · SQLite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218" y="457200"/>
            <a:ext cx="4419489" cy="54273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4218" y="6062365"/>
            <a:ext cx="3268978" cy="33843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5E3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88040" y="6124277"/>
            <a:ext cx="363091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Early Warning Dashboard System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767060"/>
            <a:ext cx="680703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1061045"/>
            <a:ext cx="640064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Attendance risk is easy to miss at scale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7987" y="2273498"/>
            <a:ext cx="1600160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2532261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6" name="Text 4"/>
          <p:cNvSpPr/>
          <p:nvPr/>
        </p:nvSpPr>
        <p:spPr>
          <a:xfrm>
            <a:off x="657308" y="2614811"/>
            <a:ext cx="6918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6773" y="2564011"/>
            <a:ext cx="584185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Students fall below the required attendance threshold without early warning.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7987" y="3638352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9" name="Text 7"/>
          <p:cNvSpPr/>
          <p:nvPr/>
        </p:nvSpPr>
        <p:spPr>
          <a:xfrm>
            <a:off x="634984" y="3720902"/>
            <a:ext cx="7364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66773" y="3670102"/>
            <a:ext cx="584185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Manual checking across many records is slow and inconsistent.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7987" y="4744442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12" name="Text 10"/>
          <p:cNvSpPr/>
          <p:nvPr/>
        </p:nvSpPr>
        <p:spPr>
          <a:xfrm>
            <a:off x="634488" y="4826992"/>
            <a:ext cx="7374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66773" y="4776192"/>
            <a:ext cx="584185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system calculates attendance, flags risk, and prioritizes intervention.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7987" y="5571133"/>
            <a:ext cx="6400640" cy="519708"/>
          </a:xfrm>
          <a:prstGeom prst="roundRect">
            <a:avLst>
              <a:gd name="adj" fmla="val 23459"/>
            </a:avLst>
          </a:prstGeom>
          <a:solidFill>
            <a:srgbClr val="F7FAF4"/>
          </a:solidFill>
          <a:ln/>
        </p:spPr>
      </p:sp>
      <p:sp>
        <p:nvSpPr>
          <p:cNvPr id="15" name="Text 13"/>
          <p:cNvSpPr/>
          <p:nvPr/>
        </p:nvSpPr>
        <p:spPr>
          <a:xfrm>
            <a:off x="711182" y="5698133"/>
            <a:ext cx="61974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Example:</a:t>
            </a: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75% required, 62% actual → </a:t>
            </a: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High Risk.</a:t>
            </a:r>
            <a:endParaRPr lang="en-US" sz="15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413" y="457200"/>
            <a:ext cx="4267093" cy="59436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07987" y="3403402"/>
            <a:ext cx="6400640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8" name="Shape 15"/>
          <p:cNvSpPr/>
          <p:nvPr/>
        </p:nvSpPr>
        <p:spPr>
          <a:xfrm>
            <a:off x="507987" y="4509492"/>
            <a:ext cx="6400640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9" name="Text 16"/>
          <p:cNvSpPr/>
          <p:nvPr/>
        </p:nvSpPr>
        <p:spPr>
          <a:xfrm>
            <a:off x="11554429" y="6526510"/>
            <a:ext cx="63726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6837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751185"/>
            <a:ext cx="11175720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From raw records to a focused intervention list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87" y="1428055"/>
            <a:ext cx="1168370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Five steps turn attendance records into a focused intervention list.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7987" y="2368550"/>
            <a:ext cx="1991370" cy="2684264"/>
          </a:xfrm>
          <a:prstGeom prst="roundRect">
            <a:avLst>
              <a:gd name="adj" fmla="val 6122"/>
            </a:avLst>
          </a:prstGeom>
          <a:solidFill>
            <a:srgbClr val="F7FAF4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571750"/>
            <a:ext cx="840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783" y="2891830"/>
            <a:ext cx="1635779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3048000"/>
            <a:ext cx="16357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1. Calculate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783" y="3521075"/>
            <a:ext cx="1635779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Calculate attendance percentage for every student.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804050" y="2368550"/>
            <a:ext cx="1991370" cy="2684264"/>
          </a:xfrm>
          <a:prstGeom prst="roundRect">
            <a:avLst>
              <a:gd name="adj" fmla="val 6122"/>
            </a:avLst>
          </a:prstGeom>
          <a:solidFill>
            <a:srgbClr val="F7FAF4"/>
          </a:solidFill>
          <a:ln/>
        </p:spPr>
      </p:sp>
      <p:sp>
        <p:nvSpPr>
          <p:cNvPr id="11" name="Text 9"/>
          <p:cNvSpPr/>
          <p:nvPr/>
        </p:nvSpPr>
        <p:spPr>
          <a:xfrm>
            <a:off x="2981846" y="2571750"/>
            <a:ext cx="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981846" y="2891830"/>
            <a:ext cx="1635779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3" name="Text 11"/>
          <p:cNvSpPr/>
          <p:nvPr/>
        </p:nvSpPr>
        <p:spPr>
          <a:xfrm>
            <a:off x="2981846" y="3048000"/>
            <a:ext cx="16357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2. Classify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81846" y="3521075"/>
            <a:ext cx="1635779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Classify students as Low, Medium, or High Risk.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100113" y="2368550"/>
            <a:ext cx="1991469" cy="2684264"/>
          </a:xfrm>
          <a:prstGeom prst="roundRect">
            <a:avLst>
              <a:gd name="adj" fmla="val 6122"/>
            </a:avLst>
          </a:prstGeom>
          <a:solidFill>
            <a:srgbClr val="F7FAF4"/>
          </a:solidFill>
          <a:ln/>
        </p:spPr>
      </p:sp>
      <p:sp>
        <p:nvSpPr>
          <p:cNvPr id="16" name="Text 14"/>
          <p:cNvSpPr/>
          <p:nvPr/>
        </p:nvSpPr>
        <p:spPr>
          <a:xfrm>
            <a:off x="5277909" y="2571750"/>
            <a:ext cx="888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77909" y="2891830"/>
            <a:ext cx="1635878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8" name="Text 16"/>
          <p:cNvSpPr/>
          <p:nvPr/>
        </p:nvSpPr>
        <p:spPr>
          <a:xfrm>
            <a:off x="5277909" y="3048000"/>
            <a:ext cx="16358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3. Sort Risk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77909" y="3521075"/>
            <a:ext cx="1635878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Sort records into a clear priority order.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396275" y="2368550"/>
            <a:ext cx="1991370" cy="2684264"/>
          </a:xfrm>
          <a:prstGeom prst="roundRect">
            <a:avLst>
              <a:gd name="adj" fmla="val 6122"/>
            </a:avLst>
          </a:prstGeom>
          <a:solidFill>
            <a:srgbClr val="F7FA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4071" y="2571750"/>
            <a:ext cx="89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574071" y="2891830"/>
            <a:ext cx="1635779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3" name="Text 21"/>
          <p:cNvSpPr/>
          <p:nvPr/>
        </p:nvSpPr>
        <p:spPr>
          <a:xfrm>
            <a:off x="7574071" y="3048000"/>
            <a:ext cx="16357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4. Search ID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74071" y="3521075"/>
            <a:ext cx="1635779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 Binary Search for fast Student ID lookup.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692338" y="2368550"/>
            <a:ext cx="1991370" cy="2684264"/>
          </a:xfrm>
          <a:prstGeom prst="roundRect">
            <a:avLst>
              <a:gd name="adj" fmla="val 6122"/>
            </a:avLst>
          </a:prstGeom>
          <a:solidFill>
            <a:srgbClr val="F7FAF4"/>
          </a:solidFill>
          <a:ln/>
        </p:spPr>
      </p:sp>
      <p:sp>
        <p:nvSpPr>
          <p:cNvPr id="26" name="Text 24"/>
          <p:cNvSpPr/>
          <p:nvPr/>
        </p:nvSpPr>
        <p:spPr>
          <a:xfrm>
            <a:off x="9870134" y="2571750"/>
            <a:ext cx="8939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870134" y="2891830"/>
            <a:ext cx="1635779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8" name="Text 26"/>
          <p:cNvSpPr/>
          <p:nvPr/>
        </p:nvSpPr>
        <p:spPr>
          <a:xfrm>
            <a:off x="9870134" y="3048000"/>
            <a:ext cx="163577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5. Intervene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870134" y="3521075"/>
            <a:ext cx="1635779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 Greedy Selection to prioritize immediate interventions.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11182" y="5811738"/>
            <a:ext cx="1076933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Pipeline flow: Student Data → Calculate Attendance → Sort by Risk → Binary Search → Greedy Selection → Intervention List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552643" y="6526510"/>
            <a:ext cx="63905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6837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CORE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751185"/>
            <a:ext cx="11175720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Three algorithms turn attendance data into action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7987" y="1428055"/>
            <a:ext cx="11175720" cy="4312047"/>
          </a:xfrm>
          <a:prstGeom prst="roundRect">
            <a:avLst>
              <a:gd name="adj" fmla="val 2827"/>
            </a:avLst>
          </a:prstGeom>
          <a:solidFill>
            <a:srgbClr val="F7FAF4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582" y="1656655"/>
          <a:ext cx="10718532" cy="3854751"/>
        </p:xfrm>
        <a:graphic>
          <a:graphicData uri="http://schemas.openxmlformats.org/drawingml/2006/table">
            <a:tbl>
              <a:tblPr/>
              <a:tblGrid>
                <a:gridCol w="2143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Algorithm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Role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Key idea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Sorting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Rank students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Order by risk or attendance; place high-risk students first in an ordered priority list.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5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Binary Search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Find a Student ID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Halve the sorted search range repeatedly; for example, locate ID 105.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0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Greedy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Choose interventions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Take the best local choice first: select the highest-priority student available at each step to build the intervention list.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52048" y="6526510"/>
            <a:ext cx="63964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31800"/>
            <a:ext cx="116837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725785"/>
            <a:ext cx="11175720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 lightweight stack keeps the system practical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7987" y="2602309"/>
            <a:ext cx="2565336" cy="1993106"/>
          </a:xfrm>
          <a:prstGeom prst="roundRect">
            <a:avLst>
              <a:gd name="adj" fmla="val 6117"/>
            </a:avLst>
          </a:prstGeom>
          <a:solidFill>
            <a:srgbClr val="F7FAF4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830909"/>
            <a:ext cx="21589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Flask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1182" y="3303984"/>
            <a:ext cx="2158946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Web interface for students, teachers, or administrators.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378115" y="2602309"/>
            <a:ext cx="2565336" cy="1993106"/>
          </a:xfrm>
          <a:prstGeom prst="roundRect">
            <a:avLst>
              <a:gd name="adj" fmla="val 6117"/>
            </a:avLst>
          </a:prstGeom>
          <a:solidFill>
            <a:srgbClr val="F7FAF4"/>
          </a:solidFill>
          <a:ln/>
        </p:spPr>
      </p:sp>
      <p:sp>
        <p:nvSpPr>
          <p:cNvPr id="8" name="Text 6"/>
          <p:cNvSpPr/>
          <p:nvPr/>
        </p:nvSpPr>
        <p:spPr>
          <a:xfrm>
            <a:off x="3581310" y="2830909"/>
            <a:ext cx="21589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Python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81310" y="3303984"/>
            <a:ext cx="2158946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Attendance calculations and algorithm logic.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8244" y="2602309"/>
            <a:ext cx="2565336" cy="1993106"/>
          </a:xfrm>
          <a:prstGeom prst="roundRect">
            <a:avLst>
              <a:gd name="adj" fmla="val 6117"/>
            </a:avLst>
          </a:prstGeom>
          <a:solidFill>
            <a:srgbClr val="F7FAF4"/>
          </a:solidFill>
          <a:ln/>
        </p:spPr>
      </p:sp>
      <p:sp>
        <p:nvSpPr>
          <p:cNvPr id="11" name="Text 9"/>
          <p:cNvSpPr/>
          <p:nvPr/>
        </p:nvSpPr>
        <p:spPr>
          <a:xfrm>
            <a:off x="6451439" y="2830909"/>
            <a:ext cx="21589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SQLite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51439" y="3303984"/>
            <a:ext cx="215894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Local storage for student records.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118372" y="2602309"/>
            <a:ext cx="2565336" cy="1993106"/>
          </a:xfrm>
          <a:prstGeom prst="roundRect">
            <a:avLst>
              <a:gd name="adj" fmla="val 6117"/>
            </a:avLst>
          </a:prstGeom>
          <a:solidFill>
            <a:srgbClr val="F7FAF4"/>
          </a:solidFill>
          <a:ln/>
        </p:spPr>
      </p:sp>
      <p:sp>
        <p:nvSpPr>
          <p:cNvPr id="14" name="Text 12"/>
          <p:cNvSpPr/>
          <p:nvPr/>
        </p:nvSpPr>
        <p:spPr>
          <a:xfrm>
            <a:off x="9321567" y="2830909"/>
            <a:ext cx="21589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Database fields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1567" y="3303984"/>
            <a:ext cx="2158946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Student ID, Name, Total Classes, Attended Classes, Attendance %, Threshold, Risk Level.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85783" y="6093520"/>
            <a:ext cx="1099792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User → Flask Web Interface → Python Algorithms → SQLite 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49766" y="6526510"/>
            <a:ext cx="6419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070173"/>
            <a:ext cx="116837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INTERVENTION QUEUE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1364159"/>
            <a:ext cx="11175720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Example results become an intervention queue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7987" y="2041029"/>
            <a:ext cx="5359266" cy="3746798"/>
          </a:xfrm>
          <a:prstGeom prst="roundRect">
            <a:avLst>
              <a:gd name="adj" fmla="val 3254"/>
            </a:avLst>
          </a:prstGeom>
          <a:solidFill>
            <a:srgbClr val="F7FAF4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244229"/>
            <a:ext cx="510527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0F3B2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RAW ATTENDANCE DATASET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981" y="2573139"/>
          <a:ext cx="4851278" cy="3011414"/>
        </p:xfrm>
        <a:graphic>
          <a:graphicData uri="http://schemas.openxmlformats.org/drawingml/2006/table">
            <a:tbl>
              <a:tblPr/>
              <a:tblGrid>
                <a:gridCol w="1762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Student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Attendance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Risk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Rahul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92%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Low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Ayesha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68%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Medium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Arjun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60%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High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Imran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56%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High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3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Priya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88%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Low</a:t>
                      </a:r>
                      <a:endParaRPr lang="en-US" sz="18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324442" y="2269629"/>
            <a:ext cx="535926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GREEDY ACTION QUEUE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24442" y="2598539"/>
            <a:ext cx="5359266" cy="104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Sorting</a:t>
            </a: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ranks high-risk students first. </a:t>
            </a:r>
            <a:r>
              <a:rPr lang="en-US" sz="180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Binary Search</a:t>
            </a: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quickly locates a student by ID.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Greedy selection</a:t>
            </a: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creates the priority list: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24442" y="3752850"/>
            <a:ext cx="5359266" cy="1027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Imran — 56% — </a:t>
            </a:r>
            <a:r>
              <a:rPr lang="en-US" sz="1800" dirty="0">
                <a:solidFill>
                  <a:srgbClr val="FF7F66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High Risk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Arjun — 60% — </a:t>
            </a:r>
            <a:r>
              <a:rPr lang="en-US" sz="1800" dirty="0">
                <a:solidFill>
                  <a:srgbClr val="FF7F66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High Risk</a:t>
            </a:r>
            <a:endParaRPr lang="en-US" sz="1800" dirty="0"/>
          </a:p>
          <a:p>
            <a:pPr marL="365760" indent="-365760" algn="l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Ayesha — 68% — </a:t>
            </a:r>
            <a:r>
              <a:rPr lang="en-US" sz="1800" dirty="0">
                <a:solidFill>
                  <a:srgbClr val="F6B93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Medium Risk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547285" y="6526510"/>
            <a:ext cx="6444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6837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ROADMAP &amp;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751185"/>
            <a:ext cx="11175720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Automate today; predict and connect tomorrow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87" y="1428055"/>
            <a:ext cx="1168370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Algorithmic foundations today form the baseline for proactive campus-wide retention systems.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7987" y="2232620"/>
            <a:ext cx="5435464" cy="3091954"/>
          </a:xfrm>
          <a:prstGeom prst="roundRect">
            <a:avLst>
              <a:gd name="adj" fmla="val 3943"/>
            </a:avLst>
          </a:prstGeom>
          <a:solidFill>
            <a:srgbClr val="F7FAF4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486620"/>
            <a:ext cx="515607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0F3B2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7380" y="2815530"/>
            <a:ext cx="487667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Automated monitoring:</a:t>
            </a: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Clarifies attendance monitoring and intervention decisions.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7380" y="3668812"/>
            <a:ext cx="487667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Algorithmic trio:</a:t>
            </a: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Sorting ranks students; Binary Search speeds lookup; Greedy prioritizes action.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7380" y="4522093"/>
            <a:ext cx="487667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Implementation:</a:t>
            </a: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Python, Flask, and SQLite provide a simple path.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8244" y="2232620"/>
            <a:ext cx="5435464" cy="3091954"/>
          </a:xfrm>
          <a:prstGeom prst="roundRect">
            <a:avLst>
              <a:gd name="adj" fmla="val 3943"/>
            </a:avLst>
          </a:prstGeom>
          <a:solidFill>
            <a:srgbClr val="F7FAF4"/>
          </a:solidFill>
          <a:ln/>
        </p:spPr>
      </p:sp>
      <p:sp>
        <p:nvSpPr>
          <p:cNvPr id="11" name="Text 9"/>
          <p:cNvSpPr/>
          <p:nvPr/>
        </p:nvSpPr>
        <p:spPr>
          <a:xfrm>
            <a:off x="6527637" y="2486620"/>
            <a:ext cx="515607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0F3B2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27637" y="2815530"/>
            <a:ext cx="487667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Alerts:</a:t>
            </a: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SMS/email alerts and parent notifications.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7637" y="3394571"/>
            <a:ext cx="487667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Prediction:</a:t>
            </a: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ML-based prediction and teacher dashboards.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27637" y="4247852"/>
            <a:ext cx="487667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Access &amp; integration:</a:t>
            </a: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Mobile access and real-time attendance integration.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5126" y="5922169"/>
            <a:ext cx="511102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Thank You • Questions &amp; Answers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564847" y="6526510"/>
            <a:ext cx="62684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slide Images - Free Download on Magnific (formerly ...">
            <a:extLst>
              <a:ext uri="{FF2B5EF4-FFF2-40B4-BE49-F238E27FC236}">
                <a16:creationId xmlns:a16="http://schemas.microsoft.com/office/drawing/2014/main" id="{8C0AFD18-5348-624C-0441-B92B87338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56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727</Words>
  <Application>Microsoft Office PowerPoint</Application>
  <PresentationFormat>Widescreen</PresentationFormat>
  <Paragraphs>117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Schibsted Grotesk Medium</vt:lpstr>
      <vt:lpstr>Schibsted Grotesk Bold</vt:lpstr>
      <vt:lpstr>Schibsted Grotesk ExtraBold</vt:lpstr>
      <vt:lpstr>Schibsted Grotesk</vt:lpstr>
      <vt:lpstr>Fira Mono Medium</vt:lpstr>
      <vt:lpstr>Arial</vt:lpstr>
      <vt:lpstr>Schibsted Grotesk SemiBold</vt:lpstr>
      <vt:lpstr>Fira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TEJA</dc:creator>
  <cp:lastModifiedBy>Sai teja</cp:lastModifiedBy>
  <cp:revision>2</cp:revision>
  <dcterms:created xsi:type="dcterms:W3CDTF">2026-10-03T07:14:36Z</dcterms:created>
  <dcterms:modified xsi:type="dcterms:W3CDTF">2026-10-03T07:27:53Z</dcterms:modified>
</cp:coreProperties>
</file>