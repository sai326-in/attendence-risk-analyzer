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772400" cy="10058400"/>
  <p:notesSz cx="10058400" cy="7772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Libre Franklin" pitchFamily="2" charset="0"/>
      <p:regular r:id="rId15"/>
      <p:bold r:id="rId16"/>
      <p:italic r:id="rId17"/>
    </p:embeddedFont>
    <p:embeddedFont>
      <p:font typeface="Libre Franklin Bold" charset="0"/>
      <p:regular r:id="rId18"/>
    </p:embeddedFont>
    <p:embeddedFont>
      <p:font typeface="Libre Franklin Medium" pitchFamily="2" charset="0"/>
      <p:regular r:id="rId19"/>
    </p:embeddedFont>
    <p:embeddedFont>
      <p:font typeface="Schibsted Grotesk Bold" panose="020B0604020202020204" charset="0"/>
      <p:regular r:id="rId20"/>
    </p:embeddedFont>
    <p:embeddedFont>
      <p:font typeface="Schibsted Grotesk Extra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1603" y="-2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1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" TargetMode="External"/><Relationship Id="rId5" Type="http://schemas.openxmlformats.org/officeDocument/2006/relationships/hyperlink" Target="https://www.sqlite.org/docs.html" TargetMode="External"/><Relationship Id="rId4" Type="http://schemas.openxmlformats.org/officeDocument/2006/relationships/hyperlink" Target="https://flask.palletsprojec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0" y="660841"/>
            <a:ext cx="6451636" cy="36554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50" y="4519450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FINAL PROJECT REPORT · APPLIED COMPUTING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660350" y="4755541"/>
            <a:ext cx="6451636" cy="144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6000" kern="100" spc="-150" dirty="0">
                <a:solidFill>
                  <a:srgbClr val="141414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Attendance Risk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100" spc="-150" dirty="0">
                <a:solidFill>
                  <a:srgbClr val="141414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Analyzer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60350" y="6330012"/>
            <a:ext cx="6451636" cy="50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Final Project Report on a web-based system that identifies attendance risk using Python, Flask, SQLite, Greedy methods, Sorting, and Binary Search.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0350" y="7764270"/>
            <a:ext cx="6451636" cy="18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B850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Candidate Details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  </a:t>
            </a:r>
            <a:r>
              <a:rPr lang="en-US" sz="1000" b="1" dirty="0">
                <a:solidFill>
                  <a:srgbClr val="141414"/>
                </a:solidFill>
                <a:latin typeface="Libre Franklin Bold" pitchFamily="34" charset="0"/>
                <a:ea typeface="Libre Franklin" pitchFamily="34" charset="-122"/>
                <a:cs typeface="Libre Franklin" pitchFamily="34" charset="-120"/>
              </a:rPr>
              <a:t>:L.RAHUL :25MVCSMR0580    M.CHARAN </a:t>
            </a:r>
            <a:r>
              <a:rPr lang="en-US" sz="1000" b="1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L.SAITEJA MD:IMRAN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0350" y="8120273"/>
            <a:ext cx="6451636" cy="18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B850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Institution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  </a:t>
            </a:r>
            <a:r>
              <a:rPr lang="en-US" sz="10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Department &amp; College: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[Enter details]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0350" y="8579871"/>
            <a:ext cx="6451636" cy="18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B850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Supervision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  </a:t>
            </a:r>
            <a:r>
              <a:rPr lang="en-US" sz="10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Guide Name &amp; Designation: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[Enter details]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0350" y="9039468"/>
            <a:ext cx="6451636" cy="18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B850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Session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  </a:t>
            </a:r>
            <a:r>
              <a:rPr lang="en-US" sz="10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Academic Year:</a:t>
            </a:r>
            <a:r>
              <a:rPr lang="en-US" sz="10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[Enter academic year]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0350" y="8016679"/>
            <a:ext cx="6451636" cy="4048"/>
          </a:xfrm>
          <a:prstGeom prst="rect">
            <a:avLst/>
          </a:prstGeom>
          <a:solidFill>
            <a:srgbClr val="D9D5CD"/>
          </a:solidFill>
          <a:ln/>
        </p:spPr>
      </p:sp>
      <p:sp>
        <p:nvSpPr>
          <p:cNvPr id="11" name="Shape 8"/>
          <p:cNvSpPr/>
          <p:nvPr/>
        </p:nvSpPr>
        <p:spPr>
          <a:xfrm>
            <a:off x="660350" y="8476276"/>
            <a:ext cx="6451636" cy="4048"/>
          </a:xfrm>
          <a:prstGeom prst="rect">
            <a:avLst/>
          </a:prstGeom>
          <a:solidFill>
            <a:srgbClr val="D9D5CD"/>
          </a:solidFill>
          <a:ln/>
        </p:spPr>
      </p:sp>
      <p:sp>
        <p:nvSpPr>
          <p:cNvPr id="12" name="Shape 9"/>
          <p:cNvSpPr/>
          <p:nvPr/>
        </p:nvSpPr>
        <p:spPr>
          <a:xfrm>
            <a:off x="660350" y="8935874"/>
            <a:ext cx="6451636" cy="4048"/>
          </a:xfrm>
          <a:prstGeom prst="rect">
            <a:avLst/>
          </a:prstGeom>
          <a:solidFill>
            <a:srgbClr val="D9D5C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01 · FOUNDATIONAL ORIENTATION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Abstract and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1387014"/>
            <a:ext cx="4301070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 institutional report on transitioning academic monitoring from manual audit logs to automated risk analytics and deterministic interventions.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2188259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Abstract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2559630"/>
            <a:ext cx="3073412" cy="324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Attendance Risk Analyzer is an institutional web platform engineered to capture session attendance, compute accurate running attendance ratios, and classify student cohorts into actionable risk tiers: Safe, Warning, and Critical. Traditional institutions face severe administrative latency caused by paper ledgers and isolated flat spreadsheets. By coupling a lightweight relational datastore with algorithmic ranking and logarithmic lookup pipelines, this solution converts static attendance archives into an active, timely advisory mechanism for faculty, mentors, and departmental authorities.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5931003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Proposed solution architecture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350" y="6302374"/>
            <a:ext cx="3073412" cy="259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system is built upon a modular Flask micro-framework back end backed by an ACID-compliant SQLite relational persistence layer. The operational core encapsulates strict server-side validation filters, role-based view enforcement, dynamic percentage calculation, and automated classification logic. It delivers instantaneous administrative overviews, actionable risk indicators, and direct student transparency without LMS maintenance overhead.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8511" y="2188259"/>
            <a:ext cx="3073476" cy="45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Introduction &amp; administrative challenge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38511" y="2788196"/>
            <a:ext cx="3073476" cy="259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Institutional attendance compliance across multiple academic departments, elective modules, and batch timetables presents complex coordination challenges. Manual roll-call registers and decentralized spreadsheet entries are inherently error-prone, labor-intensive, and reactive. Administrative staff typically discover attendance shortages at semester-end audits when regulatory thresholds (such as statutory 75% or 80% mandates) have already been violated beyond recovery.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38511" y="5510680"/>
            <a:ext cx="3073476" cy="45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System purpose &amp; operational utility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38511" y="6110617"/>
            <a:ext cx="3073476" cy="1946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central purpose of this utility is to close the diagnostic delay between a student's initial pattern of unexcused absences and institutional intervention. Providing faculty with immediate risk sorting and offering students authenticated personal visibility replaces punitive semester-end disqualifications with proactive mid-semester recovery paths.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37349" y="9616637"/>
            <a:ext cx="463321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02 · PROBLEM FORMULATION &amp; BOUNDARIES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Problem Statement, Objectives, and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1387014"/>
            <a:ext cx="4516126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Evaluating existing operational deficits, establishing targeted system benchmarks, and delineating functional boundaries for the baseline release.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2162834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2534206"/>
            <a:ext cx="3073412" cy="129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Conventional attendance maintenance in higher education depends on physical sign-in registers or unstructured spreadsheets distributed across individual faculty members. This setup introduces four critical bottlenecks: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3946265"/>
            <a:ext cx="3073412" cy="274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Severe latency between classroom absences and parental or mentor notification.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Lack of cross-subject aggregation to detect systemic disengagement across simultaneous courses.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Absence of fast query tools to isolate students falling below mandatory minimum attendance rules.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Excessive administrative overhead required to manually verify semester examination eligibility.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0350" y="6821105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Target stakeholder profiles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350" y="7192477"/>
            <a:ext cx="3073412" cy="129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primary users comprise course instructors logging daily or period records, academic mentors monitoring student cohorts, department heads assessing systemic risk, and students auditing personal records.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38511" y="2162834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Core project objectives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38511" y="2534206"/>
            <a:ext cx="3073476" cy="409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Reliable Persistence: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Store and maintain student profiles, subject registries, timetable periods, and session records without duplication.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Automated Computation: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Continuously compute aggregated and course-specific percentage scores through deterministic rules.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Risk Stratification: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Classify every registered student into defined Safe, Warning, and Critical cohorts against configurable statutory thresholds.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Algorithmic Speed: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Provide quick sorting mechanisms and  binary search queries for instant record inspection.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Access Security: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Enforce role-based access control alongside rigorous input sanitization and verification.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38511" y="6757608"/>
            <a:ext cx="3073476" cy="45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System boundary &amp; scope exclusions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38511" y="7357545"/>
            <a:ext cx="3073476" cy="129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initial release targets attendance tracking, risk computation, and academic alert preparation. It specifically excludes broad learning management workflows, examination grading frameworks, tuition billing, and hostel management.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32289" y="9616637"/>
            <a:ext cx="468381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1621209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03 · FUNCTIONAL DECOMPOSITION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1857300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Features and 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2347382"/>
            <a:ext cx="6451636" cy="43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concise specification of system capabilities, user responsibilities, security, and operating requirements.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2957691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Main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3329062"/>
            <a:ext cx="3073412" cy="3116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Secure login and logout for authorized users.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 and subject master-data management.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Daily or period-wise attendance entry.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Automatic percentage and risk calculation.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Dashboard filters by class, subject, semester, and risk level.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Sorted student rankings and fast student lookup.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Attendance reports and export-ready summaries.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38511" y="2957691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User functionalities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38511" y="3329062"/>
            <a:ext cx="3073476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Administrators manage users and master data; faculty record and review attendance; students view their own attendance and risk status.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8511" y="4371964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CRUD operations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38511" y="4743335"/>
            <a:ext cx="3073476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Create, read, update, and delete student, subject, attendance-session, and user records; require confirmation for destructive actions.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38511" y="5786236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Authentication and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38511" y="6157608"/>
            <a:ext cx="3073476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Require authenticated sessions; validate required fields and numeric ranges; prevent duplicate records; sanitize input; and restrict users to permitted actions.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38511" y="7200509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System requirements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8511" y="7571881"/>
            <a:ext cx="3073476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modern browser, Python 3.x runtime, Flask, SQLite, a local or hosted server, and basic hardware capable of running the application and database.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31340" y="9616637"/>
            <a:ext cx="469329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04 · COMPUTATIONAL FOUNDATIONS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Algorithms and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1387014"/>
            <a:ext cx="4516126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Formulation of core analytical logic: deterministic percentage derivation, greedy intervention allocation, sorting orders, and logarithmic search.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2162834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Mathematical formulation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2534206"/>
            <a:ext cx="3073412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 any student in course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with attended sessions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and total conducted sessions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, the attendance percentage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is calculated as: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082" y="2562539"/>
            <a:ext cx="69830" cy="18669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011" y="2778835"/>
            <a:ext cx="167934" cy="18669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50" y="2995131"/>
            <a:ext cx="143266" cy="18669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757" y="2995131"/>
            <a:ext cx="151868" cy="18669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50" y="3513673"/>
            <a:ext cx="3073412" cy="50241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0350" y="4130370"/>
            <a:ext cx="3073412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Given required threshold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(e.g., 75%), the sessions needed to restore compliance without further absences, denoted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, follows: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9248" y="4158703"/>
            <a:ext cx="73942" cy="186698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8625" y="4591295"/>
            <a:ext cx="169262" cy="186698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350" y="5109837"/>
            <a:ext cx="3073412" cy="75887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660350" y="5995639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Greedy intervention strategy</a:t>
            </a:r>
            <a:endParaRPr lang="en-US" sz="1500" dirty="0"/>
          </a:p>
        </p:txBody>
      </p:sp>
      <p:sp>
        <p:nvSpPr>
          <p:cNvPr id="17" name="Text 7"/>
          <p:cNvSpPr/>
          <p:nvPr/>
        </p:nvSpPr>
        <p:spPr>
          <a:xfrm>
            <a:off x="660350" y="6367010"/>
            <a:ext cx="3073412" cy="108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Faculty advising capacity is resource-constrained. When allocating mentor hours across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non-compliant students, the system applies a greedy approach based on the chosen institutional policy:</a:t>
            </a:r>
            <a:endParaRPr lang="en-US" sz="12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2571" y="6827936"/>
            <a:ext cx="89312" cy="18669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60350" y="7562773"/>
            <a:ext cx="3073412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Maximum Deficit First: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Prioritize students with lowest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to mitigate severe disengagement.</a:t>
            </a:r>
            <a:endParaRPr lang="en-US" sz="12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1044" y="7807403"/>
            <a:ext cx="151868" cy="18669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60350" y="8262447"/>
            <a:ext cx="3073412" cy="108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Minimal Recovery Effort First: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Prioritize students with lowest positive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, maximizing the total number of students brought across the threshold under tight time limits.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123" y="8723373"/>
            <a:ext cx="169262" cy="18669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038511" y="2162834"/>
            <a:ext cx="3073476" cy="45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Sorting &amp; binary search pipelines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4038511" y="2762771"/>
            <a:ext cx="3073476" cy="43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Tabular rosters and prioritized lists require efficient order structuring: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4038511" y="3309646"/>
            <a:ext cx="3073476" cy="28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Timsort Optimization: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Python's hybrid merge-insertion sort orders cohorts by percentage, required recovery sessions, or student identifier in  worst-case time with  best-case performance on pre-ordered records.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4141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Binary Search Lookup: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Once records are indexed by unique identifier (roll number) or threshold value, exact student search and tier boundary location execute in  comparisons, avoiding linear table scans across large student bodies.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4038511" y="6299212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Data flow methodology</a:t>
            </a:r>
            <a:endParaRPr lang="en-US" sz="1500" dirty="0"/>
          </a:p>
        </p:txBody>
      </p:sp>
      <p:sp>
        <p:nvSpPr>
          <p:cNvPr id="27" name="Text 14"/>
          <p:cNvSpPr/>
          <p:nvPr/>
        </p:nvSpPr>
        <p:spPr>
          <a:xfrm>
            <a:off x="4038511" y="6670584"/>
            <a:ext cx="3073476" cy="129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project followed an agile prototype lifecycle: database schema definition, Flask routing integration, algorithmic test-case verification, responsive dashboard assembly, and boundary-condition stress testing.</a:t>
            </a:r>
            <a:endParaRPr lang="en-US" sz="1200" dirty="0"/>
          </a:p>
        </p:txBody>
      </p:sp>
      <p:sp>
        <p:nvSpPr>
          <p:cNvPr id="28" name="Text 15"/>
          <p:cNvSpPr/>
          <p:nvPr/>
        </p:nvSpPr>
        <p:spPr>
          <a:xfrm>
            <a:off x="7030708" y="9616637"/>
            <a:ext cx="469962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05 · ARCHITECTURAL 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1066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b="1" kern="100" spc="-60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Technologies and Implementation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50" y="2192053"/>
          <a:ext cx="6451636" cy="914400"/>
        </p:xfrm>
        <a:graphic>
          <a:graphicData uri="http://schemas.openxmlformats.org/drawingml/2006/table">
            <a:tbl>
              <a:tblPr/>
              <a:tblGrid>
                <a:gridCol w="1419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7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Layer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Stack and role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6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B8501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Frontend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HTML5, CSS3, Bootstrap or a comparable responsive framework, and JavaScript for forms, tables, filters, and dashboard interactions.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6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B8501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Backend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Python with Flask for routing, sessions, request handling, validation, business logic, and server-side rendering or JSON endpoints.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6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B8501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Database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SQLite relational database with users, students, subjects, attendance_sessions, attendance_records, and risk_settings tables.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B8501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Tools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An IDE, Git, a virtual environment, Flask development tools, SQLite utilities, and optional charting or export libraries.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350" y="6572839"/>
            <a:ext cx="6451573" cy="20112"/>
          </a:xfrm>
          <a:prstGeom prst="roundRect">
            <a:avLst>
              <a:gd name="adj" fmla="val 50005"/>
            </a:avLst>
          </a:prstGeom>
          <a:solidFill>
            <a:srgbClr val="D9D5CD"/>
          </a:solidFill>
          <a:ln/>
        </p:spPr>
      </p:sp>
      <p:sp>
        <p:nvSpPr>
          <p:cNvPr id="6" name="Text 3"/>
          <p:cNvSpPr/>
          <p:nvPr/>
        </p:nvSpPr>
        <p:spPr>
          <a:xfrm>
            <a:off x="660350" y="6859179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Text 4"/>
          <p:cNvSpPr/>
          <p:nvPr/>
        </p:nvSpPr>
        <p:spPr>
          <a:xfrm>
            <a:off x="660350" y="7349260"/>
            <a:ext cx="2997194" cy="2048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Calculate attendance percentage as attended classes divided by total classes multiplied by 100.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Store risk thresholds as configurable values, not hard-coded across multiple routes.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Separate presentation, route handling, database access, and algorithm modules.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729" y="7349260"/>
            <a:ext cx="2997257" cy="113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 parameterized queries and clear error messages.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Return responsive tables and summary cards for high-risk, warning, and safe groups.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29885" y="9616637"/>
            <a:ext cx="470784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06 · EMPIRICAL EVALUATION &amp;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Results, Testing, and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1387014"/>
            <a:ext cx="4516126" cy="86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prototype can register users, manage attendance data, calculate percentages, identify risk groups, search records, and present actionable summaries. Replace this narrative with measured results after deployment.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2379130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2750502"/>
            <a:ext cx="3073412" cy="4083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Valid and invalid login credentials.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 creation with missing, duplicate, or invalid fields.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Attendance entry with valid and out-of-range values.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Percentage calculation for zero, partial, and complete attendance.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Risk classification at and around each threshold.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Sorting in ascending and descending order.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Binary search for an existing and a missing student.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Unauthorized access to restricted routes.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Update and delete operations with confirmation and persistence checks.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7011535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Testing methods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350" y="7382906"/>
            <a:ext cx="3073412" cy="129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 unit tests for calculations and algorithms; integration tests for routes and database operations; validation tests for forms; usability testing with representative users; and security checks for sessions and access control.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8511" y="2379130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Algorithmic complexity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38511" y="2750502"/>
            <a:ext cx="3073476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Sorting generally costs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; binary search costs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on sorted data; and a full scan costs </a:t>
            </a:r>
            <a:r>
              <a:rPr lang="en-US" sz="115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447" y="2778835"/>
            <a:ext cx="654152" cy="186698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176" y="2995131"/>
            <a:ext cx="540045" cy="186698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629" y="3211428"/>
            <a:ext cx="322901" cy="1866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38511" y="3577107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Performance analysis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038511" y="3948479"/>
            <a:ext cx="3073476" cy="648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Record response time, dataset size, and query behavior using a representative test dataset.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38511" y="4711650"/>
          <a:ext cx="3073476" cy="914400"/>
        </p:xfrm>
        <a:graphic>
          <a:graphicData uri="http://schemas.openxmlformats.org/drawingml/2006/table">
            <a:tbl>
              <a:tblPr/>
              <a:tblGrid>
                <a:gridCol w="1844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7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Metric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Value to record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Dataset size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[Enter count]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Average route response time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[Enter ms]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Batch attendance write time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[Enter ms]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Sorting &amp; binary search pass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[Enter ms]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Query behavior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[Describe]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64008" marR="127000" marT="76200" marB="76200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4038511" y="7731383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Screenshot and output evidence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038511" y="8102755"/>
            <a:ext cx="3073476" cy="108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Insert screenshots of the login page, dashboard, attendance-entry form, risk summary, sorted report, and student-search result. Include sample output tables or charts where available.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037349" y="9616637"/>
            <a:ext cx="463321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660841"/>
            <a:ext cx="6840256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95" dirty="0">
                <a:solidFill>
                  <a:srgbClr val="6B686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SECTION 07 · CLOSING APPRAISAL &amp; LITERATURE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0350" y="896933"/>
            <a:ext cx="6451636" cy="29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spc="-33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Conclusion, Future Scope, and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50" y="1387014"/>
            <a:ext cx="4516126" cy="216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Conclusion, proposed enhancements, and project references.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1730242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350" y="2101614"/>
            <a:ext cx="3073412" cy="108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Attendance Risk Analyzer converts attendance records into early warnings. Its simple web stack and core algorithms support maintainability, efficient lookup, and informed intervention.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5693267"/>
            <a:ext cx="3073412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350" y="6064638"/>
            <a:ext cx="3073412" cy="3332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Mobile-friendly or progressive web application support.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Email, SMS, or in-app notifications for risk alerts.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Predictive models for absence forecasting.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Role-based analytics for parents, mentors, and department heads.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Cloud deployment, automated backups, and audit logs.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Integration with student information or learning-management systems.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Charts for attendance trends, subject comparisons, and recovery planning.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8511" y="1730242"/>
            <a:ext cx="3073476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References and documentation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38511" y="2101614"/>
            <a:ext cx="3073476" cy="258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Python Documentation — </a:t>
            </a:r>
            <a:r>
              <a:rPr lang="en-US" sz="1200" b="1" u="sng" dirty="0">
                <a:solidFill>
                  <a:srgbClr val="B8501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Flask Documentation — </a:t>
            </a:r>
            <a:r>
              <a:rPr lang="en-US" sz="1200" b="1" u="sng" dirty="0">
                <a:solidFill>
                  <a:srgbClr val="B8501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https://flask.palletsprojects.com/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SQLite Documentation — </a:t>
            </a:r>
            <a:r>
              <a:rPr lang="en-US" sz="1200" b="1" u="sng" dirty="0">
                <a:solidFill>
                  <a:srgbClr val="B8501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https://www.sqlite.org/docs.html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Bootstrap Documentation — </a:t>
            </a:r>
            <a:r>
              <a:rPr lang="en-US" sz="1200" b="1" u="sng" dirty="0">
                <a:solidFill>
                  <a:srgbClr val="B8501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Standard algorithm and data-structures textbook or course notes used by the project team.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38511" y="9083929"/>
            <a:ext cx="3073476" cy="31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Report compiled for institutional evaluation · Academic Year [Enter academic year]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29000" y="9616637"/>
            <a:ext cx="471670" cy="171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19" dirty="0">
                <a:solidFill>
                  <a:srgbClr val="6B686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B8501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1767</Words>
  <Application>Microsoft Office PowerPoint</Application>
  <PresentationFormat>Custom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Schibsted Grotesk Bold</vt:lpstr>
      <vt:lpstr>Consolas</vt:lpstr>
      <vt:lpstr>Schibsted Grotesk ExtraBold</vt:lpstr>
      <vt:lpstr>Libre Franklin Medium</vt:lpstr>
      <vt:lpstr>Libre Franklin Bold</vt:lpstr>
      <vt:lpstr>Arial</vt:lpstr>
      <vt:lpstr>Libre Franklin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TEJA</dc:creator>
  <cp:lastModifiedBy>Sai teja</cp:lastModifiedBy>
  <cp:revision>2</cp:revision>
  <dcterms:created xsi:type="dcterms:W3CDTF">2026-10-03T08:39:27Z</dcterms:created>
  <dcterms:modified xsi:type="dcterms:W3CDTF">2026-10-03T09:55:55Z</dcterms:modified>
</cp:coreProperties>
</file>